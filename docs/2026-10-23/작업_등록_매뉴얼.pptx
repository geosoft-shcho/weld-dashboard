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E76F51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128016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용접 수집 대시보드 · 현장 안내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40080" y="1737360"/>
            <a:ext cx="7772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작업 등록 매뉴얼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640080" y="2697480"/>
            <a:ext cx="7498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9E2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현장에서 새 작업을 등록하고, 패스·자료를 정리한 뒤 프로파일·품질 화면까지 이어 보는 순서를 담았습니다.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01168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646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목차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365760" y="566928"/>
            <a:ext cx="1097280" cy="45720"/>
          </a:xfrm>
          <a:prstGeom prst="rect">
            <a:avLst/>
          </a:prstGeom>
          <a:solidFill>
            <a:srgbClr val="E76F51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713232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A9D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713232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646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전체 순서 — 작업 관리 → 작업 상세 → 프로파일 · 품질 조회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1005840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A9D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31520" y="100584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646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작업 관리 화면 — 조회 · 새 작업 · 상세 · 프로파일 · 품질 버튼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65760" y="1298448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A9D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31520" y="129844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646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새 작업 만들기 — 공사 · 호기 · 품목 · 이음부 · 첫 패스 · 만들기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65760" y="1591056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A9D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731520" y="1591056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646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목록에서 상세 · 프로파일 · 품질 열기 — 행마다 바로가기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65760" y="1883664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A9D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31520" y="1883664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646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작업 상세 — 기본 정보 — 공사 · 품목 · 이음부 · 작업자 · 시간 · 규격 · 저장 · 지우기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365760" y="2176272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A9D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731520" y="2176272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646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작업 상세 — 패스 — 패스 목록 확인 · 패스 추가 진입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365760" y="2468880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A9D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731520" y="246888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646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작업 상세 — 패스 추가 창 — 패스 번호 · 시작 · 끝 · 종류 · 추가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65760" y="2761488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A9D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731520" y="276148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646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작업 상세 — 첨부 — 에셋 올리기 · 에셋 붙이기 · 패스 지정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65760" y="3054096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A9D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731520" y="3054096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646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첨부 — 에셋 올리기 창 — 파일 · 작업 · 패스 · 장비 · 시간 0 · 올리기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365760" y="3346704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A9D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731520" y="3346704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646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파일 종류 — 시간 자료 — 영상 · 음성 · 센서 · 시간 0 필수 · 빠른 채우기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365760" y="3639312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A9D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731520" y="3639312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646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파일 종류 — 문서 · 이미지 — pdf · jpg · png · 시간 0 선택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365760" y="3931920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A9D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731520" y="393192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646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프로파일 화면 — 작업 요약 · 패스 선택 · 전류 · 전압 파형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365760" y="4224528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A9D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731520" y="422452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646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품질 화면 — 패스 선택 · 성적서 · 문서 · 파형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8503920" y="4663440"/>
            <a:ext cx="365760" cy="365760"/>
          </a:xfrm>
          <a:prstGeom prst="ellipse">
            <a:avLst/>
          </a:prstGeom>
          <a:solidFill>
            <a:srgbClr val="E76F51"/>
          </a:solidFill>
          <a:ln/>
        </p:spPr>
      </p:sp>
      <p:sp>
        <p:nvSpPr>
          <p:cNvPr id="31" name="Text 29"/>
          <p:cNvSpPr/>
          <p:nvPr/>
        </p:nvSpPr>
        <p:spPr>
          <a:xfrm>
            <a:off x="8503920" y="46634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01168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646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전체 순서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365760" y="566928"/>
            <a:ext cx="1097280" cy="45720"/>
          </a:xfrm>
          <a:prstGeom prst="rect">
            <a:avLst/>
          </a:prstGeom>
          <a:solidFill>
            <a:srgbClr val="E76F51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73152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5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왼쪽 메뉴 [작업 관리]에서 시작해, 아래 순서로 진행합니다.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65760" y="1234440"/>
            <a:ext cx="2651760" cy="2331720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365760" y="1234440"/>
            <a:ext cx="2651760" cy="91440"/>
          </a:xfrm>
          <a:prstGeom prst="rect">
            <a:avLst/>
          </a:prstGeom>
          <a:solidFill>
            <a:srgbClr val="E76F51"/>
          </a:solidFill>
          <a:ln/>
        </p:spPr>
      </p:sp>
      <p:sp>
        <p:nvSpPr>
          <p:cNvPr id="7" name="Shape 5"/>
          <p:cNvSpPr/>
          <p:nvPr/>
        </p:nvSpPr>
        <p:spPr>
          <a:xfrm>
            <a:off x="1435608" y="1554480"/>
            <a:ext cx="512064" cy="512064"/>
          </a:xfrm>
          <a:prstGeom prst="ellipse">
            <a:avLst/>
          </a:prstGeom>
          <a:solidFill>
            <a:srgbClr val="264653"/>
          </a:solidFill>
          <a:ln/>
        </p:spPr>
      </p:sp>
      <p:sp>
        <p:nvSpPr>
          <p:cNvPr id="8" name="Text 6"/>
          <p:cNvSpPr/>
          <p:nvPr/>
        </p:nvSpPr>
        <p:spPr>
          <a:xfrm>
            <a:off x="1435608" y="155448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502920" y="224028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646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작업 관리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30352" y="2651760"/>
            <a:ext cx="23225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A5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새 작업을 만들거나 기존 작업을 고릅니다.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2971800" y="219456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E76F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3246120" y="1234440"/>
            <a:ext cx="2651760" cy="2331720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/>
        </p:spPr>
      </p:sp>
      <p:sp>
        <p:nvSpPr>
          <p:cNvPr id="13" name="Shape 11"/>
          <p:cNvSpPr/>
          <p:nvPr/>
        </p:nvSpPr>
        <p:spPr>
          <a:xfrm>
            <a:off x="3246120" y="1234440"/>
            <a:ext cx="2651760" cy="9144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14" name="Shape 12"/>
          <p:cNvSpPr/>
          <p:nvPr/>
        </p:nvSpPr>
        <p:spPr>
          <a:xfrm>
            <a:off x="4315968" y="1554480"/>
            <a:ext cx="512064" cy="512064"/>
          </a:xfrm>
          <a:prstGeom prst="ellipse">
            <a:avLst/>
          </a:prstGeom>
          <a:solidFill>
            <a:srgbClr val="264653"/>
          </a:solidFill>
          <a:ln/>
        </p:spPr>
      </p:sp>
      <p:sp>
        <p:nvSpPr>
          <p:cNvPr id="15" name="Text 13"/>
          <p:cNvSpPr/>
          <p:nvPr/>
        </p:nvSpPr>
        <p:spPr>
          <a:xfrm>
            <a:off x="4315968" y="155448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3383280" y="224028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646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작업 상세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3410712" y="2651760"/>
            <a:ext cx="23225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A5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기본 정보 · 패스 · 첨부를 확인하고 정리합니다.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852160" y="219456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E76F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6126480" y="1234440"/>
            <a:ext cx="2651760" cy="2331720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/>
        </p:spPr>
      </p:sp>
      <p:sp>
        <p:nvSpPr>
          <p:cNvPr id="20" name="Shape 18"/>
          <p:cNvSpPr/>
          <p:nvPr/>
        </p:nvSpPr>
        <p:spPr>
          <a:xfrm>
            <a:off x="6126480" y="1234440"/>
            <a:ext cx="2651760" cy="9144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21" name="Shape 19"/>
          <p:cNvSpPr/>
          <p:nvPr/>
        </p:nvSpPr>
        <p:spPr>
          <a:xfrm>
            <a:off x="7196328" y="1554480"/>
            <a:ext cx="512064" cy="512064"/>
          </a:xfrm>
          <a:prstGeom prst="ellipse">
            <a:avLst/>
          </a:prstGeom>
          <a:solidFill>
            <a:srgbClr val="264653"/>
          </a:solidFill>
          <a:ln/>
        </p:spPr>
      </p:sp>
      <p:sp>
        <p:nvSpPr>
          <p:cNvPr id="22" name="Text 20"/>
          <p:cNvSpPr/>
          <p:nvPr/>
        </p:nvSpPr>
        <p:spPr>
          <a:xfrm>
            <a:off x="7196328" y="155448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6263640" y="224028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646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조회 화면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291072" y="2651760"/>
            <a:ext cx="23225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A5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프로파일 · 품질로 같은 작업을 살펴봅니다.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365760" y="3794760"/>
            <a:ext cx="8412480" cy="640080"/>
          </a:xfrm>
          <a:prstGeom prst="roundRect">
            <a:avLst>
              <a:gd name="adj" fmla="val 11429"/>
            </a:avLst>
          </a:prstGeom>
          <a:solidFill>
            <a:srgbClr val="264653"/>
          </a:solidFill>
          <a:ln/>
        </p:spPr>
      </p:sp>
      <p:sp>
        <p:nvSpPr>
          <p:cNvPr id="26" name="Text 24"/>
          <p:cNvSpPr/>
          <p:nvPr/>
        </p:nvSpPr>
        <p:spPr>
          <a:xfrm>
            <a:off x="502920" y="388620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작업을 먼저 잡고 → 패스와 자료를 정리한 뒤 → 같은 작업으로 조회합니다.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8503920" y="4663440"/>
            <a:ext cx="365760" cy="365760"/>
          </a:xfrm>
          <a:prstGeom prst="ellipse">
            <a:avLst/>
          </a:prstGeom>
          <a:solidFill>
            <a:srgbClr val="E76F51"/>
          </a:solidFill>
          <a:ln/>
        </p:spPr>
      </p:sp>
      <p:sp>
        <p:nvSpPr>
          <p:cNvPr id="28" name="Text 26"/>
          <p:cNvSpPr/>
          <p:nvPr/>
        </p:nvSpPr>
        <p:spPr>
          <a:xfrm>
            <a:off x="8503920" y="46634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1371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646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작업 관리 화면</a:t>
            </a:r>
            <a:endParaRPr lang="en-US" sz="1800" dirty="0"/>
          </a:p>
        </p:txBody>
      </p:sp>
      <p:pic>
        <p:nvPicPr>
          <p:cNvPr id="3" name="Image 0" descr="/Users/geosoft/Documents/weld-dashboard/docs/2026-10-23/slides/imgs/01-work-history-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502920"/>
            <a:ext cx="5852160" cy="402336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6309360" y="502920"/>
            <a:ext cx="2514600" cy="4023360"/>
          </a:xfrm>
          <a:prstGeom prst="roundRect">
            <a:avLst>
              <a:gd name="adj" fmla="val 2909"/>
            </a:avLst>
          </a:prstGeom>
          <a:solidFill>
            <a:srgbClr val="FFFFFF"/>
          </a:solidFill>
          <a:ln/>
        </p:spPr>
      </p:sp>
      <p:sp>
        <p:nvSpPr>
          <p:cNvPr id="5" name="Text 2"/>
          <p:cNvSpPr/>
          <p:nvPr/>
        </p:nvSpPr>
        <p:spPr>
          <a:xfrm>
            <a:off x="6446520" y="640080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76F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번호 안내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6446520" y="1024128"/>
            <a:ext cx="237744" cy="237744"/>
          </a:xfrm>
          <a:prstGeom prst="ellipse">
            <a:avLst/>
          </a:prstGeom>
          <a:solidFill>
            <a:srgbClr val="E76F51"/>
          </a:solidFill>
          <a:ln/>
        </p:spPr>
      </p:sp>
      <p:sp>
        <p:nvSpPr>
          <p:cNvPr id="7" name="Text 4"/>
          <p:cNvSpPr/>
          <p:nvPr/>
        </p:nvSpPr>
        <p:spPr>
          <a:xfrm>
            <a:off x="6446520" y="102412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6766560" y="100584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왼쪽 [작업 관리] 메뉴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446520" y="1527048"/>
            <a:ext cx="237744" cy="237744"/>
          </a:xfrm>
          <a:prstGeom prst="ellipse">
            <a:avLst/>
          </a:prstGeom>
          <a:solidFill>
            <a:srgbClr val="E76F51"/>
          </a:solidFill>
          <a:ln/>
        </p:spPr>
      </p:sp>
      <p:sp>
        <p:nvSpPr>
          <p:cNvPr id="10" name="Text 7"/>
          <p:cNvSpPr/>
          <p:nvPr/>
        </p:nvSpPr>
        <p:spPr>
          <a:xfrm>
            <a:off x="6446520" y="152704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6766560" y="150876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[조회] — 목록 불러오기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6446520" y="2029968"/>
            <a:ext cx="237744" cy="237744"/>
          </a:xfrm>
          <a:prstGeom prst="ellipse">
            <a:avLst/>
          </a:prstGeom>
          <a:solidFill>
            <a:srgbClr val="E76F51"/>
          </a:solidFill>
          <a:ln/>
        </p:spPr>
      </p:sp>
      <p:sp>
        <p:nvSpPr>
          <p:cNvPr id="13" name="Text 10"/>
          <p:cNvSpPr/>
          <p:nvPr/>
        </p:nvSpPr>
        <p:spPr>
          <a:xfrm>
            <a:off x="6446520" y="202996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766560" y="201168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[새 작업] — 새로 등록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6446520" y="2532888"/>
            <a:ext cx="237744" cy="237744"/>
          </a:xfrm>
          <a:prstGeom prst="ellipse">
            <a:avLst/>
          </a:prstGeom>
          <a:solidFill>
            <a:srgbClr val="E76F51"/>
          </a:solidFill>
          <a:ln/>
        </p:spPr>
      </p:sp>
      <p:sp>
        <p:nvSpPr>
          <p:cNvPr id="16" name="Text 13"/>
          <p:cNvSpPr/>
          <p:nvPr/>
        </p:nvSpPr>
        <p:spPr>
          <a:xfrm>
            <a:off x="6446520" y="253288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6766560" y="251460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[상세] — 작업 내용 열기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6446520" y="3035808"/>
            <a:ext cx="237744" cy="237744"/>
          </a:xfrm>
          <a:prstGeom prst="ellipse">
            <a:avLst/>
          </a:prstGeom>
          <a:solidFill>
            <a:srgbClr val="E76F51"/>
          </a:solidFill>
          <a:ln/>
        </p:spPr>
      </p:sp>
      <p:sp>
        <p:nvSpPr>
          <p:cNvPr id="19" name="Text 16"/>
          <p:cNvSpPr/>
          <p:nvPr/>
        </p:nvSpPr>
        <p:spPr>
          <a:xfrm>
            <a:off x="6446520" y="303580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6766560" y="301752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[프로파일] — 파형 보기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6446520" y="3538728"/>
            <a:ext cx="237744" cy="237744"/>
          </a:xfrm>
          <a:prstGeom prst="ellipse">
            <a:avLst/>
          </a:prstGeom>
          <a:solidFill>
            <a:srgbClr val="E76F51"/>
          </a:solidFill>
          <a:ln/>
        </p:spPr>
      </p:sp>
      <p:sp>
        <p:nvSpPr>
          <p:cNvPr id="22" name="Text 19"/>
          <p:cNvSpPr/>
          <p:nvPr/>
        </p:nvSpPr>
        <p:spPr>
          <a:xfrm>
            <a:off x="6446520" y="353872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6766560" y="352044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[품질] — 품질 결과 보기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8503920" y="4663440"/>
            <a:ext cx="365760" cy="365760"/>
          </a:xfrm>
          <a:prstGeom prst="ellipse">
            <a:avLst/>
          </a:prstGeom>
          <a:solidFill>
            <a:srgbClr val="E76F51"/>
          </a:solidFill>
          <a:ln/>
        </p:spPr>
      </p:sp>
      <p:sp>
        <p:nvSpPr>
          <p:cNvPr id="25" name="Text 22"/>
          <p:cNvSpPr/>
          <p:nvPr/>
        </p:nvSpPr>
        <p:spPr>
          <a:xfrm>
            <a:off x="8503920" y="46634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1371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646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새 작업 만들기</a:t>
            </a:r>
            <a:endParaRPr lang="en-US" sz="1800" dirty="0"/>
          </a:p>
        </p:txBody>
      </p:sp>
      <p:pic>
        <p:nvPicPr>
          <p:cNvPr id="3" name="Image 0" descr="/Users/geosoft/Documents/weld-dashboard/docs/2026-10-23/slides/imgs/02-new-job-dialog-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502920"/>
            <a:ext cx="5852160" cy="402336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6309360" y="502920"/>
            <a:ext cx="2514600" cy="4023360"/>
          </a:xfrm>
          <a:prstGeom prst="roundRect">
            <a:avLst>
              <a:gd name="adj" fmla="val 2909"/>
            </a:avLst>
          </a:prstGeom>
          <a:solidFill>
            <a:srgbClr val="FFFFFF"/>
          </a:solidFill>
          <a:ln/>
        </p:spPr>
      </p:sp>
      <p:sp>
        <p:nvSpPr>
          <p:cNvPr id="5" name="Text 2"/>
          <p:cNvSpPr/>
          <p:nvPr/>
        </p:nvSpPr>
        <p:spPr>
          <a:xfrm>
            <a:off x="6446520" y="640080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76F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번호 안내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6446520" y="1024128"/>
            <a:ext cx="237744" cy="237744"/>
          </a:xfrm>
          <a:prstGeom prst="ellipse">
            <a:avLst/>
          </a:prstGeom>
          <a:solidFill>
            <a:srgbClr val="E76F51"/>
          </a:solidFill>
          <a:ln/>
        </p:spPr>
      </p:sp>
      <p:sp>
        <p:nvSpPr>
          <p:cNvPr id="7" name="Text 4"/>
          <p:cNvSpPr/>
          <p:nvPr/>
        </p:nvSpPr>
        <p:spPr>
          <a:xfrm>
            <a:off x="6446520" y="102412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6766560" y="1005840"/>
            <a:ext cx="1920240" cy="4506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공사 — 필수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446520" y="1520517"/>
            <a:ext cx="237744" cy="237744"/>
          </a:xfrm>
          <a:prstGeom prst="ellipse">
            <a:avLst/>
          </a:prstGeom>
          <a:solidFill>
            <a:srgbClr val="E76F51"/>
          </a:solidFill>
          <a:ln/>
        </p:spPr>
      </p:sp>
      <p:sp>
        <p:nvSpPr>
          <p:cNvPr id="10" name="Text 7"/>
          <p:cNvSpPr/>
          <p:nvPr/>
        </p:nvSpPr>
        <p:spPr>
          <a:xfrm>
            <a:off x="6446520" y="1520517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6766560" y="1502229"/>
            <a:ext cx="1920240" cy="4506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호기 · 품목 — 필수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6446520" y="2016905"/>
            <a:ext cx="237744" cy="237744"/>
          </a:xfrm>
          <a:prstGeom prst="ellipse">
            <a:avLst/>
          </a:prstGeom>
          <a:solidFill>
            <a:srgbClr val="E76F51"/>
          </a:solidFill>
          <a:ln/>
        </p:spPr>
      </p:sp>
      <p:sp>
        <p:nvSpPr>
          <p:cNvPr id="13" name="Text 10"/>
          <p:cNvSpPr/>
          <p:nvPr/>
        </p:nvSpPr>
        <p:spPr>
          <a:xfrm>
            <a:off x="6446520" y="2016905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766560" y="1998617"/>
            <a:ext cx="1920240" cy="4506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이음부 — 필수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6446520" y="2513294"/>
            <a:ext cx="237744" cy="237744"/>
          </a:xfrm>
          <a:prstGeom prst="ellipse">
            <a:avLst/>
          </a:prstGeom>
          <a:solidFill>
            <a:srgbClr val="E76F51"/>
          </a:solidFill>
          <a:ln/>
        </p:spPr>
      </p:sp>
      <p:sp>
        <p:nvSpPr>
          <p:cNvPr id="16" name="Text 13"/>
          <p:cNvSpPr/>
          <p:nvPr/>
        </p:nvSpPr>
        <p:spPr>
          <a:xfrm>
            <a:off x="6446520" y="251329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6766560" y="2495006"/>
            <a:ext cx="1920240" cy="4506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작업자 — 선택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6446520" y="3009682"/>
            <a:ext cx="237744" cy="237744"/>
          </a:xfrm>
          <a:prstGeom prst="ellipse">
            <a:avLst/>
          </a:prstGeom>
          <a:solidFill>
            <a:srgbClr val="E76F51"/>
          </a:solidFill>
          <a:ln/>
        </p:spPr>
      </p:sp>
      <p:sp>
        <p:nvSpPr>
          <p:cNvPr id="19" name="Text 16"/>
          <p:cNvSpPr/>
          <p:nvPr/>
        </p:nvSpPr>
        <p:spPr>
          <a:xfrm>
            <a:off x="6446520" y="300968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6766560" y="2991394"/>
            <a:ext cx="1920240" cy="4506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시작 · 종료 시각 — 시작은 필수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6446520" y="3506071"/>
            <a:ext cx="237744" cy="237744"/>
          </a:xfrm>
          <a:prstGeom prst="ellipse">
            <a:avLst/>
          </a:prstGeom>
          <a:solidFill>
            <a:srgbClr val="E76F51"/>
          </a:solidFill>
          <a:ln/>
        </p:spPr>
      </p:sp>
      <p:sp>
        <p:nvSpPr>
          <p:cNvPr id="22" name="Text 19"/>
          <p:cNvSpPr/>
          <p:nvPr/>
        </p:nvSpPr>
        <p:spPr>
          <a:xfrm>
            <a:off x="6446520" y="3506071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6766560" y="3487783"/>
            <a:ext cx="1920240" cy="4506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패스 구간 — 선택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6446520" y="4002459"/>
            <a:ext cx="237744" cy="237744"/>
          </a:xfrm>
          <a:prstGeom prst="ellipse">
            <a:avLst/>
          </a:prstGeom>
          <a:solidFill>
            <a:srgbClr val="E76F51"/>
          </a:solidFill>
          <a:ln/>
        </p:spPr>
      </p:sp>
      <p:sp>
        <p:nvSpPr>
          <p:cNvPr id="25" name="Text 22"/>
          <p:cNvSpPr/>
          <p:nvPr/>
        </p:nvSpPr>
        <p:spPr>
          <a:xfrm>
            <a:off x="6446520" y="4002459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6766560" y="3984171"/>
            <a:ext cx="1920240" cy="4506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[만들기] — 저장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8503920" y="4663440"/>
            <a:ext cx="365760" cy="365760"/>
          </a:xfrm>
          <a:prstGeom prst="ellipse">
            <a:avLst/>
          </a:prstGeom>
          <a:solidFill>
            <a:srgbClr val="E76F51"/>
          </a:solidFill>
          <a:ln/>
        </p:spPr>
      </p:sp>
      <p:sp>
        <p:nvSpPr>
          <p:cNvPr id="28" name="Text 25"/>
          <p:cNvSpPr/>
          <p:nvPr/>
        </p:nvSpPr>
        <p:spPr>
          <a:xfrm>
            <a:off x="8503920" y="46634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1371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646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목록에서 상세 · 프로파일 · 품질 열기</a:t>
            </a:r>
            <a:endParaRPr lang="en-US" sz="1800" dirty="0"/>
          </a:p>
        </p:txBody>
      </p:sp>
      <p:pic>
        <p:nvPicPr>
          <p:cNvPr id="3" name="Image 0" descr="/Users/geosoft/Documents/weld-dashboard/docs/2026-10-23/slides/imgs/06-list-actions-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502920"/>
            <a:ext cx="5852160" cy="402336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6309360" y="502920"/>
            <a:ext cx="2514600" cy="4023360"/>
          </a:xfrm>
          <a:prstGeom prst="roundRect">
            <a:avLst>
              <a:gd name="adj" fmla="val 2909"/>
            </a:avLst>
          </a:prstGeom>
          <a:solidFill>
            <a:srgbClr val="FFFFFF"/>
          </a:solidFill>
          <a:ln/>
        </p:spPr>
      </p:sp>
      <p:sp>
        <p:nvSpPr>
          <p:cNvPr id="5" name="Text 2"/>
          <p:cNvSpPr/>
          <p:nvPr/>
        </p:nvSpPr>
        <p:spPr>
          <a:xfrm>
            <a:off x="6446520" y="640080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76F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번호 안내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6446520" y="1024128"/>
            <a:ext cx="237744" cy="237744"/>
          </a:xfrm>
          <a:prstGeom prst="ellipse">
            <a:avLst/>
          </a:prstGeom>
          <a:solidFill>
            <a:srgbClr val="E76F51"/>
          </a:solidFill>
          <a:ln/>
        </p:spPr>
      </p:sp>
      <p:sp>
        <p:nvSpPr>
          <p:cNvPr id="7" name="Text 4"/>
          <p:cNvSpPr/>
          <p:nvPr/>
        </p:nvSpPr>
        <p:spPr>
          <a:xfrm>
            <a:off x="6446520" y="102412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6766560" y="100584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[상세] — 기본 정보 · 패스 · 첨부를 고치고 정리합니다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446520" y="1527048"/>
            <a:ext cx="237744" cy="237744"/>
          </a:xfrm>
          <a:prstGeom prst="ellipse">
            <a:avLst/>
          </a:prstGeom>
          <a:solidFill>
            <a:srgbClr val="E76F51"/>
          </a:solidFill>
          <a:ln/>
        </p:spPr>
      </p:sp>
      <p:sp>
        <p:nvSpPr>
          <p:cNvPr id="10" name="Text 7"/>
          <p:cNvSpPr/>
          <p:nvPr/>
        </p:nvSpPr>
        <p:spPr>
          <a:xfrm>
            <a:off x="6446520" y="152704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6766560" y="150876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[프로파일] — 패스별 전류 · 전압 등 파형을 봅니다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6446520" y="2029968"/>
            <a:ext cx="237744" cy="237744"/>
          </a:xfrm>
          <a:prstGeom prst="ellipse">
            <a:avLst/>
          </a:prstGeom>
          <a:solidFill>
            <a:srgbClr val="E76F51"/>
          </a:solidFill>
          <a:ln/>
        </p:spPr>
      </p:sp>
      <p:sp>
        <p:nvSpPr>
          <p:cNvPr id="13" name="Text 10"/>
          <p:cNvSpPr/>
          <p:nvPr/>
        </p:nvSpPr>
        <p:spPr>
          <a:xfrm>
            <a:off x="6446520" y="202996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766560" y="201168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[품질] — 품질 결과와 파형을 함께 봅니다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8503920" y="4663440"/>
            <a:ext cx="365760" cy="365760"/>
          </a:xfrm>
          <a:prstGeom prst="ellipse">
            <a:avLst/>
          </a:prstGeom>
          <a:solidFill>
            <a:srgbClr val="E76F51"/>
          </a:solidFill>
          <a:ln/>
        </p:spPr>
      </p:sp>
      <p:sp>
        <p:nvSpPr>
          <p:cNvPr id="16" name="Text 13"/>
          <p:cNvSpPr/>
          <p:nvPr/>
        </p:nvSpPr>
        <p:spPr>
          <a:xfrm>
            <a:off x="8503920" y="46634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1371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646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작업 상세 — 기본 정보</a:t>
            </a:r>
            <a:endParaRPr lang="en-US" sz="1800" dirty="0"/>
          </a:p>
        </p:txBody>
      </p:sp>
      <p:pic>
        <p:nvPicPr>
          <p:cNvPr id="3" name="Image 0" descr="/Users/geosoft/Documents/weld-dashboard/docs/2026-10-23/slides/imgs/04-job-detail-info-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502920"/>
            <a:ext cx="5852160" cy="402336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6309360" y="502920"/>
            <a:ext cx="2514600" cy="4023360"/>
          </a:xfrm>
          <a:prstGeom prst="roundRect">
            <a:avLst>
              <a:gd name="adj" fmla="val 2909"/>
            </a:avLst>
          </a:prstGeom>
          <a:solidFill>
            <a:srgbClr val="FFFFFF"/>
          </a:solidFill>
          <a:ln/>
        </p:spPr>
      </p:sp>
      <p:sp>
        <p:nvSpPr>
          <p:cNvPr id="5" name="Text 2"/>
          <p:cNvSpPr/>
          <p:nvPr/>
        </p:nvSpPr>
        <p:spPr>
          <a:xfrm>
            <a:off x="6446520" y="640080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76F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번호 안내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6446520" y="1024128"/>
            <a:ext cx="237744" cy="237744"/>
          </a:xfrm>
          <a:prstGeom prst="ellipse">
            <a:avLst/>
          </a:prstGeom>
          <a:solidFill>
            <a:srgbClr val="E76F51"/>
          </a:solidFill>
          <a:ln/>
        </p:spPr>
      </p:sp>
      <p:sp>
        <p:nvSpPr>
          <p:cNvPr id="7" name="Text 4"/>
          <p:cNvSpPr/>
          <p:nvPr/>
        </p:nvSpPr>
        <p:spPr>
          <a:xfrm>
            <a:off x="6446520" y="102412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6766560" y="100584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작업 요약 카드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446520" y="1527048"/>
            <a:ext cx="237744" cy="237744"/>
          </a:xfrm>
          <a:prstGeom prst="ellipse">
            <a:avLst/>
          </a:prstGeom>
          <a:solidFill>
            <a:srgbClr val="E76F51"/>
          </a:solidFill>
          <a:ln/>
        </p:spPr>
      </p:sp>
      <p:sp>
        <p:nvSpPr>
          <p:cNvPr id="10" name="Text 7"/>
          <p:cNvSpPr/>
          <p:nvPr/>
        </p:nvSpPr>
        <p:spPr>
          <a:xfrm>
            <a:off x="6446520" y="152704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6766560" y="150876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[기본 정보] 탭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6446520" y="2029968"/>
            <a:ext cx="237744" cy="237744"/>
          </a:xfrm>
          <a:prstGeom prst="ellipse">
            <a:avLst/>
          </a:prstGeom>
          <a:solidFill>
            <a:srgbClr val="E76F51"/>
          </a:solidFill>
          <a:ln/>
        </p:spPr>
      </p:sp>
      <p:sp>
        <p:nvSpPr>
          <p:cNvPr id="13" name="Text 10"/>
          <p:cNvSpPr/>
          <p:nvPr/>
        </p:nvSpPr>
        <p:spPr>
          <a:xfrm>
            <a:off x="6446520" y="202996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766560" y="201168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[저장]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6446520" y="2532888"/>
            <a:ext cx="237744" cy="237744"/>
          </a:xfrm>
          <a:prstGeom prst="ellipse">
            <a:avLst/>
          </a:prstGeom>
          <a:solidFill>
            <a:srgbClr val="E76F51"/>
          </a:solidFill>
          <a:ln/>
        </p:spPr>
      </p:sp>
      <p:sp>
        <p:nvSpPr>
          <p:cNvPr id="16" name="Text 13"/>
          <p:cNvSpPr/>
          <p:nvPr/>
        </p:nvSpPr>
        <p:spPr>
          <a:xfrm>
            <a:off x="6446520" y="253288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6766560" y="251460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[작업 지우기] (되돌릴 수 없음)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6446520" y="3035808"/>
            <a:ext cx="237744" cy="237744"/>
          </a:xfrm>
          <a:prstGeom prst="ellipse">
            <a:avLst/>
          </a:prstGeom>
          <a:solidFill>
            <a:srgbClr val="E76F51"/>
          </a:solidFill>
          <a:ln/>
        </p:spPr>
      </p:sp>
      <p:sp>
        <p:nvSpPr>
          <p:cNvPr id="19" name="Text 16"/>
          <p:cNvSpPr/>
          <p:nvPr/>
        </p:nvSpPr>
        <p:spPr>
          <a:xfrm>
            <a:off x="6446520" y="303580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6766560" y="301752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공사 · 품목 · 시간 등 입력 칸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6446520" y="3538728"/>
            <a:ext cx="237744" cy="237744"/>
          </a:xfrm>
          <a:prstGeom prst="ellipse">
            <a:avLst/>
          </a:prstGeom>
          <a:solidFill>
            <a:srgbClr val="E76F51"/>
          </a:solidFill>
          <a:ln/>
        </p:spPr>
      </p:sp>
      <p:sp>
        <p:nvSpPr>
          <p:cNvPr id="22" name="Text 19"/>
          <p:cNvSpPr/>
          <p:nvPr/>
        </p:nvSpPr>
        <p:spPr>
          <a:xfrm>
            <a:off x="6446520" y="353872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6766560" y="352044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프로파일 · 품질로 바로 이동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8503920" y="4663440"/>
            <a:ext cx="365760" cy="365760"/>
          </a:xfrm>
          <a:prstGeom prst="ellipse">
            <a:avLst/>
          </a:prstGeom>
          <a:solidFill>
            <a:srgbClr val="E76F51"/>
          </a:solidFill>
          <a:ln/>
        </p:spPr>
      </p:sp>
      <p:sp>
        <p:nvSpPr>
          <p:cNvPr id="25" name="Text 22"/>
          <p:cNvSpPr/>
          <p:nvPr/>
        </p:nvSpPr>
        <p:spPr>
          <a:xfrm>
            <a:off x="8503920" y="46634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1371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646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작업 상세 — 패스</a:t>
            </a:r>
            <a:endParaRPr lang="en-US" sz="1800" dirty="0"/>
          </a:p>
        </p:txBody>
      </p:sp>
      <p:pic>
        <p:nvPicPr>
          <p:cNvPr id="3" name="Image 0" descr="/Users/geosoft/Documents/weld-dashboard/docs/2026-10-23/slides/imgs/05-job-detail-pass-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502920"/>
            <a:ext cx="5852160" cy="402336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6309360" y="502920"/>
            <a:ext cx="2514600" cy="4023360"/>
          </a:xfrm>
          <a:prstGeom prst="roundRect">
            <a:avLst>
              <a:gd name="adj" fmla="val 2909"/>
            </a:avLst>
          </a:prstGeom>
          <a:solidFill>
            <a:srgbClr val="FFFFFF"/>
          </a:solidFill>
          <a:ln/>
        </p:spPr>
      </p:sp>
      <p:sp>
        <p:nvSpPr>
          <p:cNvPr id="5" name="Text 2"/>
          <p:cNvSpPr/>
          <p:nvPr/>
        </p:nvSpPr>
        <p:spPr>
          <a:xfrm>
            <a:off x="6446520" y="640080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76F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번호 안내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6446520" y="1024128"/>
            <a:ext cx="237744" cy="237744"/>
          </a:xfrm>
          <a:prstGeom prst="ellipse">
            <a:avLst/>
          </a:prstGeom>
          <a:solidFill>
            <a:srgbClr val="E76F51"/>
          </a:solidFill>
          <a:ln/>
        </p:spPr>
      </p:sp>
      <p:sp>
        <p:nvSpPr>
          <p:cNvPr id="7" name="Text 4"/>
          <p:cNvSpPr/>
          <p:nvPr/>
        </p:nvSpPr>
        <p:spPr>
          <a:xfrm>
            <a:off x="6446520" y="102412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6766560" y="100584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[+ 패스 추가]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446520" y="1527048"/>
            <a:ext cx="237744" cy="237744"/>
          </a:xfrm>
          <a:prstGeom prst="ellipse">
            <a:avLst/>
          </a:prstGeom>
          <a:solidFill>
            <a:srgbClr val="E76F51"/>
          </a:solidFill>
          <a:ln/>
        </p:spPr>
      </p:sp>
      <p:sp>
        <p:nvSpPr>
          <p:cNvPr id="10" name="Text 7"/>
          <p:cNvSpPr/>
          <p:nvPr/>
        </p:nvSpPr>
        <p:spPr>
          <a:xfrm>
            <a:off x="6446520" y="152704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6766560" y="150876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패스 목록 (시작 · 종료)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6446520" y="2029968"/>
            <a:ext cx="237744" cy="237744"/>
          </a:xfrm>
          <a:prstGeom prst="ellipse">
            <a:avLst/>
          </a:prstGeom>
          <a:solidFill>
            <a:srgbClr val="E76F51"/>
          </a:solidFill>
          <a:ln/>
        </p:spPr>
      </p:sp>
      <p:sp>
        <p:nvSpPr>
          <p:cNvPr id="13" name="Text 10"/>
          <p:cNvSpPr/>
          <p:nvPr/>
        </p:nvSpPr>
        <p:spPr>
          <a:xfrm>
            <a:off x="6446520" y="202996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766560" y="201168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수정 · 지우기 아이콘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6446520" y="2532888"/>
            <a:ext cx="237744" cy="237744"/>
          </a:xfrm>
          <a:prstGeom prst="ellipse">
            <a:avLst/>
          </a:prstGeom>
          <a:solidFill>
            <a:srgbClr val="E76F51"/>
          </a:solidFill>
          <a:ln/>
        </p:spPr>
      </p:sp>
      <p:sp>
        <p:nvSpPr>
          <p:cNvPr id="16" name="Text 13"/>
          <p:cNvSpPr/>
          <p:nvPr/>
        </p:nvSpPr>
        <p:spPr>
          <a:xfrm>
            <a:off x="6446520" y="253288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6766560" y="251460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구간 규칙 안내 (겹침 불가)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8503920" y="4663440"/>
            <a:ext cx="365760" cy="365760"/>
          </a:xfrm>
          <a:prstGeom prst="ellipse">
            <a:avLst/>
          </a:prstGeom>
          <a:solidFill>
            <a:srgbClr val="E76F51"/>
          </a:solidFill>
          <a:ln/>
        </p:spPr>
      </p:sp>
      <p:sp>
        <p:nvSpPr>
          <p:cNvPr id="19" name="Text 16"/>
          <p:cNvSpPr/>
          <p:nvPr/>
        </p:nvSpPr>
        <p:spPr>
          <a:xfrm>
            <a:off x="8503920" y="46634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1371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646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 작업 상세 — 패스 추가 창</a:t>
            </a:r>
            <a:endParaRPr lang="en-US" sz="1800" dirty="0"/>
          </a:p>
        </p:txBody>
      </p:sp>
      <p:pic>
        <p:nvPicPr>
          <p:cNvPr id="3" name="Image 0" descr="/Users/geosoft/Documents/weld-dashboard/docs/2026-10-23/slides/imgs/08-pass-add-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502920"/>
            <a:ext cx="5852160" cy="402336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6309360" y="502920"/>
            <a:ext cx="2514600" cy="4023360"/>
          </a:xfrm>
          <a:prstGeom prst="roundRect">
            <a:avLst>
              <a:gd name="adj" fmla="val 2909"/>
            </a:avLst>
          </a:prstGeom>
          <a:solidFill>
            <a:srgbClr val="FFFFFF"/>
          </a:solidFill>
          <a:ln/>
        </p:spPr>
      </p:sp>
      <p:sp>
        <p:nvSpPr>
          <p:cNvPr id="5" name="Text 2"/>
          <p:cNvSpPr/>
          <p:nvPr/>
        </p:nvSpPr>
        <p:spPr>
          <a:xfrm>
            <a:off x="6446520" y="640080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76F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번호 안내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6446520" y="1024128"/>
            <a:ext cx="237744" cy="237744"/>
          </a:xfrm>
          <a:prstGeom prst="ellipse">
            <a:avLst/>
          </a:prstGeom>
          <a:solidFill>
            <a:srgbClr val="E76F51"/>
          </a:solidFill>
          <a:ln/>
        </p:spPr>
      </p:sp>
      <p:sp>
        <p:nvSpPr>
          <p:cNvPr id="7" name="Text 4"/>
          <p:cNvSpPr/>
          <p:nvPr/>
        </p:nvSpPr>
        <p:spPr>
          <a:xfrm>
            <a:off x="6446520" y="102412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6766560" y="100584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패스 번호 * — 중복되면 안 됩니다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446520" y="1527048"/>
            <a:ext cx="237744" cy="237744"/>
          </a:xfrm>
          <a:prstGeom prst="ellipse">
            <a:avLst/>
          </a:prstGeom>
          <a:solidFill>
            <a:srgbClr val="E76F51"/>
          </a:solidFill>
          <a:ln/>
        </p:spPr>
      </p:sp>
      <p:sp>
        <p:nvSpPr>
          <p:cNvPr id="10" name="Text 7"/>
          <p:cNvSpPr/>
          <p:nvPr/>
        </p:nvSpPr>
        <p:spPr>
          <a:xfrm>
            <a:off x="6446520" y="152704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6766560" y="150876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종류 — 초층 · 채움 · 캡 등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6446520" y="2029968"/>
            <a:ext cx="237744" cy="237744"/>
          </a:xfrm>
          <a:prstGeom prst="ellipse">
            <a:avLst/>
          </a:prstGeom>
          <a:solidFill>
            <a:srgbClr val="E76F51"/>
          </a:solidFill>
          <a:ln/>
        </p:spPr>
      </p:sp>
      <p:sp>
        <p:nvSpPr>
          <p:cNvPr id="13" name="Text 10"/>
          <p:cNvSpPr/>
          <p:nvPr/>
        </p:nvSpPr>
        <p:spPr>
          <a:xfrm>
            <a:off x="6446520" y="202996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766560" y="201168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시작 시각 — 비워 둘 수 있습니다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6446520" y="2532888"/>
            <a:ext cx="237744" cy="237744"/>
          </a:xfrm>
          <a:prstGeom prst="ellipse">
            <a:avLst/>
          </a:prstGeom>
          <a:solidFill>
            <a:srgbClr val="E76F51"/>
          </a:solidFill>
          <a:ln/>
        </p:spPr>
      </p:sp>
      <p:sp>
        <p:nvSpPr>
          <p:cNvPr id="16" name="Text 13"/>
          <p:cNvSpPr/>
          <p:nvPr/>
        </p:nvSpPr>
        <p:spPr>
          <a:xfrm>
            <a:off x="6446520" y="253288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6766560" y="251460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종료 시각 — 비워 둘 수 있습니다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6446520" y="3035808"/>
            <a:ext cx="237744" cy="237744"/>
          </a:xfrm>
          <a:prstGeom prst="ellipse">
            <a:avLst/>
          </a:prstGeom>
          <a:solidFill>
            <a:srgbClr val="E76F51"/>
          </a:solidFill>
          <a:ln/>
        </p:spPr>
      </p:sp>
      <p:sp>
        <p:nvSpPr>
          <p:cNvPr id="19" name="Text 16"/>
          <p:cNvSpPr/>
          <p:nvPr/>
        </p:nvSpPr>
        <p:spPr>
          <a:xfrm>
            <a:off x="6446520" y="303580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6766560" y="301752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작업 구간 안내 — 이 구간 안이어야 합니다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6446520" y="3538728"/>
            <a:ext cx="237744" cy="237744"/>
          </a:xfrm>
          <a:prstGeom prst="ellipse">
            <a:avLst/>
          </a:prstGeom>
          <a:solidFill>
            <a:srgbClr val="E76F51"/>
          </a:solidFill>
          <a:ln/>
        </p:spPr>
      </p:sp>
      <p:sp>
        <p:nvSpPr>
          <p:cNvPr id="22" name="Text 19"/>
          <p:cNvSpPr/>
          <p:nvPr/>
        </p:nvSpPr>
        <p:spPr>
          <a:xfrm>
            <a:off x="6446520" y="353872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6766560" y="352044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[추가] — 저장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8503920" y="4663440"/>
            <a:ext cx="365760" cy="365760"/>
          </a:xfrm>
          <a:prstGeom prst="ellipse">
            <a:avLst/>
          </a:prstGeom>
          <a:solidFill>
            <a:srgbClr val="E76F51"/>
          </a:solidFill>
          <a:ln/>
        </p:spPr>
      </p:sp>
      <p:sp>
        <p:nvSpPr>
          <p:cNvPr id="25" name="Text 22"/>
          <p:cNvSpPr/>
          <p:nvPr/>
        </p:nvSpPr>
        <p:spPr>
          <a:xfrm>
            <a:off x="8503920" y="46634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1371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646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 작업 상세 — 첨부</a:t>
            </a:r>
            <a:endParaRPr lang="en-US" sz="1800" dirty="0"/>
          </a:p>
        </p:txBody>
      </p:sp>
      <p:pic>
        <p:nvPicPr>
          <p:cNvPr id="3" name="Image 0" descr="/Users/geosoft/Documents/weld-dashboard/docs/2026-10-23/slides/imgs/06-job-detail-attach-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502920"/>
            <a:ext cx="5852160" cy="402336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6309360" y="502920"/>
            <a:ext cx="2514600" cy="4023360"/>
          </a:xfrm>
          <a:prstGeom prst="roundRect">
            <a:avLst>
              <a:gd name="adj" fmla="val 2909"/>
            </a:avLst>
          </a:prstGeom>
          <a:solidFill>
            <a:srgbClr val="FFFFFF"/>
          </a:solidFill>
          <a:ln/>
        </p:spPr>
      </p:sp>
      <p:sp>
        <p:nvSpPr>
          <p:cNvPr id="5" name="Text 2"/>
          <p:cNvSpPr/>
          <p:nvPr/>
        </p:nvSpPr>
        <p:spPr>
          <a:xfrm>
            <a:off x="6446520" y="640080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76F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번호 안내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6446520" y="1024128"/>
            <a:ext cx="237744" cy="237744"/>
          </a:xfrm>
          <a:prstGeom prst="ellipse">
            <a:avLst/>
          </a:prstGeom>
          <a:solidFill>
            <a:srgbClr val="E76F51"/>
          </a:solidFill>
          <a:ln/>
        </p:spPr>
      </p:sp>
      <p:sp>
        <p:nvSpPr>
          <p:cNvPr id="7" name="Text 4"/>
          <p:cNvSpPr/>
          <p:nvPr/>
        </p:nvSpPr>
        <p:spPr>
          <a:xfrm>
            <a:off x="6446520" y="102412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6766560" y="100584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[에셋 올리기] — 새 파일 올리기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446520" y="1527048"/>
            <a:ext cx="237744" cy="237744"/>
          </a:xfrm>
          <a:prstGeom prst="ellipse">
            <a:avLst/>
          </a:prstGeom>
          <a:solidFill>
            <a:srgbClr val="E76F51"/>
          </a:solidFill>
          <a:ln/>
        </p:spPr>
      </p:sp>
      <p:sp>
        <p:nvSpPr>
          <p:cNvPr id="10" name="Text 7"/>
          <p:cNvSpPr/>
          <p:nvPr/>
        </p:nvSpPr>
        <p:spPr>
          <a:xfrm>
            <a:off x="6446520" y="152704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6766560" y="150876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[에셋 붙이기] — 기존 자료 연결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6446520" y="2029968"/>
            <a:ext cx="237744" cy="237744"/>
          </a:xfrm>
          <a:prstGeom prst="ellipse">
            <a:avLst/>
          </a:prstGeom>
          <a:solidFill>
            <a:srgbClr val="E76F51"/>
          </a:solidFill>
          <a:ln/>
        </p:spPr>
      </p:sp>
      <p:sp>
        <p:nvSpPr>
          <p:cNvPr id="13" name="Text 10"/>
          <p:cNvSpPr/>
          <p:nvPr/>
        </p:nvSpPr>
        <p:spPr>
          <a:xfrm>
            <a:off x="6446520" y="202996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766560" y="201168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패스 칸 — 어느 패스에 속할지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6446520" y="2532888"/>
            <a:ext cx="237744" cy="237744"/>
          </a:xfrm>
          <a:prstGeom prst="ellipse">
            <a:avLst/>
          </a:prstGeom>
          <a:solidFill>
            <a:srgbClr val="E76F51"/>
          </a:solidFill>
          <a:ln/>
        </p:spPr>
      </p:sp>
      <p:sp>
        <p:nvSpPr>
          <p:cNvPr id="16" name="Text 13"/>
          <p:cNvSpPr/>
          <p:nvPr/>
        </p:nvSpPr>
        <p:spPr>
          <a:xfrm>
            <a:off x="6446520" y="253288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6766560" y="251460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연결 끊기 — 작업과의 연결만 끊김 (파일은 남음)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8503920" y="4663440"/>
            <a:ext cx="365760" cy="365760"/>
          </a:xfrm>
          <a:prstGeom prst="ellipse">
            <a:avLst/>
          </a:prstGeom>
          <a:solidFill>
            <a:srgbClr val="E76F51"/>
          </a:solidFill>
          <a:ln/>
        </p:spPr>
      </p:sp>
      <p:sp>
        <p:nvSpPr>
          <p:cNvPr id="19" name="Text 16"/>
          <p:cNvSpPr/>
          <p:nvPr/>
        </p:nvSpPr>
        <p:spPr>
          <a:xfrm>
            <a:off x="8503920" y="46634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1371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646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 첨부 — 에셋 올리기 창</a:t>
            </a:r>
            <a:endParaRPr lang="en-US" sz="1800" dirty="0"/>
          </a:p>
        </p:txBody>
      </p:sp>
      <p:pic>
        <p:nvPicPr>
          <p:cNvPr id="3" name="Image 0" descr="/Users/geosoft/Documents/weld-dashboard/docs/2026-10-23/slides/imgs/10-asset-upload-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502920"/>
            <a:ext cx="5852160" cy="402336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6309360" y="502920"/>
            <a:ext cx="2514600" cy="4023360"/>
          </a:xfrm>
          <a:prstGeom prst="roundRect">
            <a:avLst>
              <a:gd name="adj" fmla="val 2909"/>
            </a:avLst>
          </a:prstGeom>
          <a:solidFill>
            <a:srgbClr val="FFFFFF"/>
          </a:solidFill>
          <a:ln/>
        </p:spPr>
      </p:sp>
      <p:sp>
        <p:nvSpPr>
          <p:cNvPr id="5" name="Text 2"/>
          <p:cNvSpPr/>
          <p:nvPr/>
        </p:nvSpPr>
        <p:spPr>
          <a:xfrm>
            <a:off x="6446520" y="640080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76F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번호 안내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6446520" y="1024128"/>
            <a:ext cx="237744" cy="237744"/>
          </a:xfrm>
          <a:prstGeom prst="ellipse">
            <a:avLst/>
          </a:prstGeom>
          <a:solidFill>
            <a:srgbClr val="E76F51"/>
          </a:solidFill>
          <a:ln/>
        </p:spPr>
      </p:sp>
      <p:sp>
        <p:nvSpPr>
          <p:cNvPr id="7" name="Text 4"/>
          <p:cNvSpPr/>
          <p:nvPr/>
        </p:nvSpPr>
        <p:spPr>
          <a:xfrm>
            <a:off x="6446520" y="102412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6766560" y="100584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파일 고르기 — 고르면 종류 · 후처리 안내가 뜸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446520" y="1527048"/>
            <a:ext cx="237744" cy="237744"/>
          </a:xfrm>
          <a:prstGeom prst="ellipse">
            <a:avLst/>
          </a:prstGeom>
          <a:solidFill>
            <a:srgbClr val="E76F51"/>
          </a:solidFill>
          <a:ln/>
        </p:spPr>
      </p:sp>
      <p:sp>
        <p:nvSpPr>
          <p:cNvPr id="10" name="Text 7"/>
          <p:cNvSpPr/>
          <p:nvPr/>
        </p:nvSpPr>
        <p:spPr>
          <a:xfrm>
            <a:off x="6446520" y="152704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6766560" y="150876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작업 — 이 작업으로 고정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6446520" y="2029968"/>
            <a:ext cx="237744" cy="237744"/>
          </a:xfrm>
          <a:prstGeom prst="ellipse">
            <a:avLst/>
          </a:prstGeom>
          <a:solidFill>
            <a:srgbClr val="E76F51"/>
          </a:solidFill>
          <a:ln/>
        </p:spPr>
      </p:sp>
      <p:sp>
        <p:nvSpPr>
          <p:cNvPr id="13" name="Text 10"/>
          <p:cNvSpPr/>
          <p:nvPr/>
        </p:nvSpPr>
        <p:spPr>
          <a:xfrm>
            <a:off x="6446520" y="202996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766560" y="201168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패스 — 또는 작업 공용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6446520" y="2532888"/>
            <a:ext cx="237744" cy="237744"/>
          </a:xfrm>
          <a:prstGeom prst="ellipse">
            <a:avLst/>
          </a:prstGeom>
          <a:solidFill>
            <a:srgbClr val="E76F51"/>
          </a:solidFill>
          <a:ln/>
        </p:spPr>
      </p:sp>
      <p:sp>
        <p:nvSpPr>
          <p:cNvPr id="16" name="Text 13"/>
          <p:cNvSpPr/>
          <p:nvPr/>
        </p:nvSpPr>
        <p:spPr>
          <a:xfrm>
            <a:off x="6446520" y="253288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6766560" y="251460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장비 (선택)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6446520" y="3035808"/>
            <a:ext cx="237744" cy="237744"/>
          </a:xfrm>
          <a:prstGeom prst="ellipse">
            <a:avLst/>
          </a:prstGeom>
          <a:solidFill>
            <a:srgbClr val="E76F51"/>
          </a:solidFill>
          <a:ln/>
        </p:spPr>
      </p:sp>
      <p:sp>
        <p:nvSpPr>
          <p:cNvPr id="19" name="Text 16"/>
          <p:cNvSpPr/>
          <p:nvPr/>
        </p:nvSpPr>
        <p:spPr>
          <a:xfrm>
            <a:off x="6446520" y="303580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6766560" y="301752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시간 0의 시각 — 시간 자료면 필수 *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6446520" y="3538728"/>
            <a:ext cx="237744" cy="237744"/>
          </a:xfrm>
          <a:prstGeom prst="ellipse">
            <a:avLst/>
          </a:prstGeom>
          <a:solidFill>
            <a:srgbClr val="E76F51"/>
          </a:solidFill>
          <a:ln/>
        </p:spPr>
      </p:sp>
      <p:sp>
        <p:nvSpPr>
          <p:cNvPr id="22" name="Text 19"/>
          <p:cNvSpPr/>
          <p:nvPr/>
        </p:nvSpPr>
        <p:spPr>
          <a:xfrm>
            <a:off x="6446520" y="353872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6766560" y="352044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[올리기]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8503920" y="4663440"/>
            <a:ext cx="365760" cy="365760"/>
          </a:xfrm>
          <a:prstGeom prst="ellipse">
            <a:avLst/>
          </a:prstGeom>
          <a:solidFill>
            <a:srgbClr val="E76F51"/>
          </a:solidFill>
          <a:ln/>
        </p:spPr>
      </p:sp>
      <p:sp>
        <p:nvSpPr>
          <p:cNvPr id="25" name="Text 22"/>
          <p:cNvSpPr/>
          <p:nvPr/>
        </p:nvSpPr>
        <p:spPr>
          <a:xfrm>
            <a:off x="8503920" y="46634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1371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646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 파일 종류 — 시간 자료</a:t>
            </a:r>
            <a:endParaRPr lang="en-US" sz="1800" dirty="0"/>
          </a:p>
        </p:txBody>
      </p:sp>
      <p:pic>
        <p:nvPicPr>
          <p:cNvPr id="3" name="Image 0" descr="/Users/geosoft/Documents/weld-dashboard/docs/2026-10-23/slides/imgs/11-upload-video-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502920"/>
            <a:ext cx="5852160" cy="402336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6309360" y="502920"/>
            <a:ext cx="2514600" cy="4023360"/>
          </a:xfrm>
          <a:prstGeom prst="roundRect">
            <a:avLst>
              <a:gd name="adj" fmla="val 2909"/>
            </a:avLst>
          </a:prstGeom>
          <a:solidFill>
            <a:srgbClr val="FFFFFF"/>
          </a:solidFill>
          <a:ln/>
        </p:spPr>
      </p:sp>
      <p:sp>
        <p:nvSpPr>
          <p:cNvPr id="5" name="Text 2"/>
          <p:cNvSpPr/>
          <p:nvPr/>
        </p:nvSpPr>
        <p:spPr>
          <a:xfrm>
            <a:off x="6446520" y="640080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76F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번호 안내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6446520" y="1024128"/>
            <a:ext cx="237744" cy="237744"/>
          </a:xfrm>
          <a:prstGeom prst="ellipse">
            <a:avLst/>
          </a:prstGeom>
          <a:solidFill>
            <a:srgbClr val="E76F51"/>
          </a:solidFill>
          <a:ln/>
        </p:spPr>
      </p:sp>
      <p:sp>
        <p:nvSpPr>
          <p:cNvPr id="7" name="Text 4"/>
          <p:cNvSpPr/>
          <p:nvPr/>
        </p:nvSpPr>
        <p:spPr>
          <a:xfrm>
            <a:off x="6446520" y="102412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6766560" y="100584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종류 안내 — 확장자로 짐작, 최종은 서버가 내용으로 판별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446520" y="1527048"/>
            <a:ext cx="237744" cy="237744"/>
          </a:xfrm>
          <a:prstGeom prst="ellipse">
            <a:avLst/>
          </a:prstGeom>
          <a:solidFill>
            <a:srgbClr val="E76F51"/>
          </a:solidFill>
          <a:ln/>
        </p:spPr>
      </p:sp>
      <p:sp>
        <p:nvSpPr>
          <p:cNvPr id="10" name="Text 7"/>
          <p:cNvSpPr/>
          <p:nvPr/>
        </p:nvSpPr>
        <p:spPr>
          <a:xfrm>
            <a:off x="6446520" y="152704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6766560" y="150876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올린 뒤 후처리 — 예: 속성 → 길이 → 타임라인 배치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6446520" y="2029968"/>
            <a:ext cx="237744" cy="237744"/>
          </a:xfrm>
          <a:prstGeom prst="ellipse">
            <a:avLst/>
          </a:prstGeom>
          <a:solidFill>
            <a:srgbClr val="E76F51"/>
          </a:solidFill>
          <a:ln/>
        </p:spPr>
      </p:sp>
      <p:sp>
        <p:nvSpPr>
          <p:cNvPr id="13" name="Text 10"/>
          <p:cNvSpPr/>
          <p:nvPr/>
        </p:nvSpPr>
        <p:spPr>
          <a:xfrm>
            <a:off x="6446520" y="202996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766560" y="201168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시간 0의 시각 * — 시간 자료는 필수. 없으면 올릴 수 없음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6446520" y="2532888"/>
            <a:ext cx="237744" cy="237744"/>
          </a:xfrm>
          <a:prstGeom prst="ellipse">
            <a:avLst/>
          </a:prstGeom>
          <a:solidFill>
            <a:srgbClr val="E76F51"/>
          </a:solidFill>
          <a:ln/>
        </p:spPr>
      </p:sp>
      <p:sp>
        <p:nvSpPr>
          <p:cNvPr id="16" name="Text 13"/>
          <p:cNvSpPr/>
          <p:nvPr/>
        </p:nvSpPr>
        <p:spPr>
          <a:xfrm>
            <a:off x="6446520" y="253288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6766560" y="251460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빠른 채우기 — 작업 시작 · 파일 시각 · 현재 시각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8503920" y="4663440"/>
            <a:ext cx="365760" cy="365760"/>
          </a:xfrm>
          <a:prstGeom prst="ellipse">
            <a:avLst/>
          </a:prstGeom>
          <a:solidFill>
            <a:srgbClr val="E76F51"/>
          </a:solidFill>
          <a:ln/>
        </p:spPr>
      </p:sp>
      <p:sp>
        <p:nvSpPr>
          <p:cNvPr id="19" name="Text 16"/>
          <p:cNvSpPr/>
          <p:nvPr/>
        </p:nvSpPr>
        <p:spPr>
          <a:xfrm>
            <a:off x="8503920" y="46634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1371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646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11. 파일 종류 — 문서 · 이미지</a:t>
            </a:r>
            <a:endParaRPr lang="en-US" sz="1800" dirty="0"/>
          </a:p>
        </p:txBody>
      </p:sp>
      <p:pic>
        <p:nvPicPr>
          <p:cNvPr id="3" name="Image 0" descr="/Users/geosoft/Documents/weld-dashboard/docs/2026-10-23/slides/imgs/11-upload-pdf-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502920"/>
            <a:ext cx="5852160" cy="402336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6309360" y="502920"/>
            <a:ext cx="2514600" cy="4023360"/>
          </a:xfrm>
          <a:prstGeom prst="roundRect">
            <a:avLst>
              <a:gd name="adj" fmla="val 2909"/>
            </a:avLst>
          </a:prstGeom>
          <a:solidFill>
            <a:srgbClr val="FFFFFF"/>
          </a:solidFill>
          <a:ln/>
        </p:spPr>
      </p:sp>
      <p:sp>
        <p:nvSpPr>
          <p:cNvPr id="5" name="Text 2"/>
          <p:cNvSpPr/>
          <p:nvPr/>
        </p:nvSpPr>
        <p:spPr>
          <a:xfrm>
            <a:off x="6446520" y="640080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76F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번호 안내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6446520" y="1024128"/>
            <a:ext cx="237744" cy="237744"/>
          </a:xfrm>
          <a:prstGeom prst="ellipse">
            <a:avLst/>
          </a:prstGeom>
          <a:solidFill>
            <a:srgbClr val="E76F51"/>
          </a:solidFill>
          <a:ln/>
        </p:spPr>
      </p:sp>
      <p:sp>
        <p:nvSpPr>
          <p:cNvPr id="7" name="Text 4"/>
          <p:cNvSpPr/>
          <p:nvPr/>
        </p:nvSpPr>
        <p:spPr>
          <a:xfrm>
            <a:off x="6446520" y="102412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6766560" y="100584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종류 짐작 — pdf → 문서 · 성적서, jpg · png → 이미지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446520" y="1527048"/>
            <a:ext cx="237744" cy="237744"/>
          </a:xfrm>
          <a:prstGeom prst="ellipse">
            <a:avLst/>
          </a:prstGeom>
          <a:solidFill>
            <a:srgbClr val="E76F51"/>
          </a:solidFill>
          <a:ln/>
        </p:spPr>
      </p:sp>
      <p:sp>
        <p:nvSpPr>
          <p:cNvPr id="10" name="Text 7"/>
          <p:cNvSpPr/>
          <p:nvPr/>
        </p:nvSpPr>
        <p:spPr>
          <a:xfrm>
            <a:off x="6446520" y="152704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6766560" y="150876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올린 뒤 후처리 — pdf: 속성 → 글자 인식 · 성적서 / 이미지: 속성만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6446520" y="2029968"/>
            <a:ext cx="237744" cy="237744"/>
          </a:xfrm>
          <a:prstGeom prst="ellipse">
            <a:avLst/>
          </a:prstGeom>
          <a:solidFill>
            <a:srgbClr val="E76F51"/>
          </a:solidFill>
          <a:ln/>
        </p:spPr>
      </p:sp>
      <p:sp>
        <p:nvSpPr>
          <p:cNvPr id="13" name="Text 10"/>
          <p:cNvSpPr/>
          <p:nvPr/>
        </p:nvSpPr>
        <p:spPr>
          <a:xfrm>
            <a:off x="6446520" y="202996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766560" y="201168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시간 0의 시각 — 필수 표시(*) 없음. 비워도 올릴 수 있음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8503920" y="4663440"/>
            <a:ext cx="365760" cy="365760"/>
          </a:xfrm>
          <a:prstGeom prst="ellipse">
            <a:avLst/>
          </a:prstGeom>
          <a:solidFill>
            <a:srgbClr val="E76F51"/>
          </a:solidFill>
          <a:ln/>
        </p:spPr>
      </p:sp>
      <p:sp>
        <p:nvSpPr>
          <p:cNvPr id="16" name="Text 13"/>
          <p:cNvSpPr/>
          <p:nvPr/>
        </p:nvSpPr>
        <p:spPr>
          <a:xfrm>
            <a:off x="8503920" y="46634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1371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646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12. 프로파일 화면</a:t>
            </a:r>
            <a:endParaRPr lang="en-US" sz="1800" dirty="0"/>
          </a:p>
        </p:txBody>
      </p:sp>
      <p:pic>
        <p:nvPicPr>
          <p:cNvPr id="3" name="Image 0" descr="/Users/geosoft/Documents/weld-dashboard/docs/2026-10-23/slides/imgs/08-pass-profile-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502920"/>
            <a:ext cx="5852160" cy="402336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6309360" y="502920"/>
            <a:ext cx="2514600" cy="4023360"/>
          </a:xfrm>
          <a:prstGeom prst="roundRect">
            <a:avLst>
              <a:gd name="adj" fmla="val 2909"/>
            </a:avLst>
          </a:prstGeom>
          <a:solidFill>
            <a:srgbClr val="FFFFFF"/>
          </a:solidFill>
          <a:ln/>
        </p:spPr>
      </p:sp>
      <p:sp>
        <p:nvSpPr>
          <p:cNvPr id="5" name="Text 2"/>
          <p:cNvSpPr/>
          <p:nvPr/>
        </p:nvSpPr>
        <p:spPr>
          <a:xfrm>
            <a:off x="6446520" y="640080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76F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번호 안내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6446520" y="1024128"/>
            <a:ext cx="237744" cy="237744"/>
          </a:xfrm>
          <a:prstGeom prst="ellipse">
            <a:avLst/>
          </a:prstGeom>
          <a:solidFill>
            <a:srgbClr val="E76F51"/>
          </a:solidFill>
          <a:ln/>
        </p:spPr>
      </p:sp>
      <p:sp>
        <p:nvSpPr>
          <p:cNvPr id="7" name="Text 4"/>
          <p:cNvSpPr/>
          <p:nvPr/>
        </p:nvSpPr>
        <p:spPr>
          <a:xfrm>
            <a:off x="6446520" y="102412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6766560" y="100584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작업 요약 카드 — 공사 · 품목 · 작업자 · 장비를 한눈에 봅니다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446520" y="1527048"/>
            <a:ext cx="237744" cy="237744"/>
          </a:xfrm>
          <a:prstGeom prst="ellipse">
            <a:avLst/>
          </a:prstGeom>
          <a:solidFill>
            <a:srgbClr val="E76F51"/>
          </a:solidFill>
          <a:ln/>
        </p:spPr>
      </p:sp>
      <p:sp>
        <p:nvSpPr>
          <p:cNvPr id="10" name="Text 7"/>
          <p:cNvSpPr/>
          <p:nvPr/>
        </p:nvSpPr>
        <p:spPr>
          <a:xfrm>
            <a:off x="6446520" y="152704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6766560" y="150876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패스 선택 — P1, P2…를 바꿔 패스별 파형을 봅니다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6446520" y="2029968"/>
            <a:ext cx="237744" cy="237744"/>
          </a:xfrm>
          <a:prstGeom prst="ellipse">
            <a:avLst/>
          </a:prstGeom>
          <a:solidFill>
            <a:srgbClr val="E76F51"/>
          </a:solidFill>
          <a:ln/>
        </p:spPr>
      </p:sp>
      <p:sp>
        <p:nvSpPr>
          <p:cNvPr id="13" name="Text 10"/>
          <p:cNvSpPr/>
          <p:nvPr/>
        </p:nvSpPr>
        <p:spPr>
          <a:xfrm>
            <a:off x="6446520" y="202996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766560" y="201168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파형 차트 — 전류 · 전압 · 속도 등을 시간 흐름으로 봅니다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8503920" y="4663440"/>
            <a:ext cx="365760" cy="365760"/>
          </a:xfrm>
          <a:prstGeom prst="ellipse">
            <a:avLst/>
          </a:prstGeom>
          <a:solidFill>
            <a:srgbClr val="E76F51"/>
          </a:solidFill>
          <a:ln/>
        </p:spPr>
      </p:sp>
      <p:sp>
        <p:nvSpPr>
          <p:cNvPr id="16" name="Text 13"/>
          <p:cNvSpPr/>
          <p:nvPr/>
        </p:nvSpPr>
        <p:spPr>
          <a:xfrm>
            <a:off x="8503920" y="46634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1371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646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13. 품질 화면</a:t>
            </a:r>
            <a:endParaRPr lang="en-US" sz="1800" dirty="0"/>
          </a:p>
        </p:txBody>
      </p:sp>
      <p:pic>
        <p:nvPicPr>
          <p:cNvPr id="3" name="Image 0" descr="/Users/geosoft/Documents/weld-dashboard/docs/2026-10-23/slides/imgs/09-quality-issue-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502920"/>
            <a:ext cx="5852160" cy="402336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6309360" y="502920"/>
            <a:ext cx="2514600" cy="4023360"/>
          </a:xfrm>
          <a:prstGeom prst="roundRect">
            <a:avLst>
              <a:gd name="adj" fmla="val 2909"/>
            </a:avLst>
          </a:prstGeom>
          <a:solidFill>
            <a:srgbClr val="FFFFFF"/>
          </a:solidFill>
          <a:ln/>
        </p:spPr>
      </p:sp>
      <p:sp>
        <p:nvSpPr>
          <p:cNvPr id="5" name="Text 2"/>
          <p:cNvSpPr/>
          <p:nvPr/>
        </p:nvSpPr>
        <p:spPr>
          <a:xfrm>
            <a:off x="6446520" y="640080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76F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번호 안내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6446520" y="1024128"/>
            <a:ext cx="237744" cy="237744"/>
          </a:xfrm>
          <a:prstGeom prst="ellipse">
            <a:avLst/>
          </a:prstGeom>
          <a:solidFill>
            <a:srgbClr val="E76F51"/>
          </a:solidFill>
          <a:ln/>
        </p:spPr>
      </p:sp>
      <p:sp>
        <p:nvSpPr>
          <p:cNvPr id="7" name="Text 4"/>
          <p:cNvSpPr/>
          <p:nvPr/>
        </p:nvSpPr>
        <p:spPr>
          <a:xfrm>
            <a:off x="6446520" y="102412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6766560" y="100584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패스 선택 — P1, P2…를 바꿔 패스별 결과를 봅니다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446520" y="1527048"/>
            <a:ext cx="237744" cy="237744"/>
          </a:xfrm>
          <a:prstGeom prst="ellipse">
            <a:avLst/>
          </a:prstGeom>
          <a:solidFill>
            <a:srgbClr val="E76F51"/>
          </a:solidFill>
          <a:ln/>
        </p:spPr>
      </p:sp>
      <p:sp>
        <p:nvSpPr>
          <p:cNvPr id="10" name="Text 7"/>
          <p:cNvSpPr/>
          <p:nvPr/>
        </p:nvSpPr>
        <p:spPr>
          <a:xfrm>
            <a:off x="6446520" y="152704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6766560" y="150876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성적서 · 문서 — PDF · 영상 등 품질 자료를 봅니다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6446520" y="2029968"/>
            <a:ext cx="237744" cy="237744"/>
          </a:xfrm>
          <a:prstGeom prst="ellipse">
            <a:avLst/>
          </a:prstGeom>
          <a:solidFill>
            <a:srgbClr val="E76F51"/>
          </a:solidFill>
          <a:ln/>
        </p:spPr>
      </p:sp>
      <p:sp>
        <p:nvSpPr>
          <p:cNvPr id="13" name="Text 10"/>
          <p:cNvSpPr/>
          <p:nvPr/>
        </p:nvSpPr>
        <p:spPr>
          <a:xfrm>
            <a:off x="6446520" y="202996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766560" y="201168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파형 — 같은 패스의 전류 · 전압 등을 봅니다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8503920" y="4663440"/>
            <a:ext cx="365760" cy="365760"/>
          </a:xfrm>
          <a:prstGeom prst="ellipse">
            <a:avLst/>
          </a:prstGeom>
          <a:solidFill>
            <a:srgbClr val="E76F51"/>
          </a:solidFill>
          <a:ln/>
        </p:spPr>
      </p:sp>
      <p:sp>
        <p:nvSpPr>
          <p:cNvPr id="16" name="Text 13"/>
          <p:cNvSpPr/>
          <p:nvPr/>
        </p:nvSpPr>
        <p:spPr>
          <a:xfrm>
            <a:off x="8503920" y="46634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01168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646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끝으로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365760" y="566928"/>
            <a:ext cx="1097280" cy="45720"/>
          </a:xfrm>
          <a:prstGeom prst="rect">
            <a:avLst/>
          </a:prstGeom>
          <a:solidFill>
            <a:srgbClr val="E76F51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73152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5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등록이 끝나면 아래만 다시 확인해 주세요.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365760" y="1143000"/>
            <a:ext cx="8412480" cy="402336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502920" y="1216152"/>
            <a:ext cx="256032" cy="256032"/>
          </a:xfrm>
          <a:prstGeom prst="roundRect">
            <a:avLst>
              <a:gd name="adj" fmla="val 14286"/>
            </a:avLst>
          </a:prstGeom>
          <a:solidFill>
            <a:srgbClr val="2A9D8F"/>
          </a:solidFill>
          <a:ln/>
        </p:spPr>
      </p:sp>
      <p:sp>
        <p:nvSpPr>
          <p:cNvPr id="7" name="Text 5"/>
          <p:cNvSpPr/>
          <p:nvPr/>
        </p:nvSpPr>
        <p:spPr>
          <a:xfrm>
            <a:off x="502920" y="121615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914400" y="1143000"/>
            <a:ext cx="7680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646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 작업 관리에서 작업과 패스를 만들었는가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365760" y="1618488"/>
            <a:ext cx="8412480" cy="402336"/>
          </a:xfrm>
          <a:prstGeom prst="roundRect">
            <a:avLst>
              <a:gd name="adj" fmla="val 13636"/>
            </a:avLst>
          </a:prstGeom>
          <a:solidFill>
            <a:srgbClr val="EEF6F4"/>
          </a:solidFill>
          <a:ln/>
        </p:spPr>
      </p:sp>
      <p:sp>
        <p:nvSpPr>
          <p:cNvPr id="10" name="Shape 8"/>
          <p:cNvSpPr/>
          <p:nvPr/>
        </p:nvSpPr>
        <p:spPr>
          <a:xfrm>
            <a:off x="502920" y="1691640"/>
            <a:ext cx="256032" cy="256032"/>
          </a:xfrm>
          <a:prstGeom prst="roundRect">
            <a:avLst>
              <a:gd name="adj" fmla="val 14286"/>
            </a:avLst>
          </a:prstGeom>
          <a:solidFill>
            <a:srgbClr val="2A9D8F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169164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914400" y="1618488"/>
            <a:ext cx="7680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646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 상세에서 기본 정보가 맞는가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093976"/>
            <a:ext cx="8412480" cy="402336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/>
        </p:spPr>
      </p:sp>
      <p:sp>
        <p:nvSpPr>
          <p:cNvPr id="14" name="Shape 12"/>
          <p:cNvSpPr/>
          <p:nvPr/>
        </p:nvSpPr>
        <p:spPr>
          <a:xfrm>
            <a:off x="502920" y="2167128"/>
            <a:ext cx="256032" cy="256032"/>
          </a:xfrm>
          <a:prstGeom prst="roundRect">
            <a:avLst>
              <a:gd name="adj" fmla="val 14286"/>
            </a:avLst>
          </a:prstGeom>
          <a:solidFill>
            <a:srgbClr val="2A9D8F"/>
          </a:solidFill>
          <a:ln/>
        </p:spPr>
      </p:sp>
      <p:sp>
        <p:nvSpPr>
          <p:cNvPr id="15" name="Text 13"/>
          <p:cNvSpPr/>
          <p:nvPr/>
        </p:nvSpPr>
        <p:spPr>
          <a:xfrm>
            <a:off x="502920" y="216712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914400" y="2093976"/>
            <a:ext cx="7680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646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 패스 구간 · 종류가 조회에 쓸 수 있는가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365760" y="2569464"/>
            <a:ext cx="8412480" cy="402336"/>
          </a:xfrm>
          <a:prstGeom prst="roundRect">
            <a:avLst>
              <a:gd name="adj" fmla="val 13636"/>
            </a:avLst>
          </a:prstGeom>
          <a:solidFill>
            <a:srgbClr val="EEF6F4"/>
          </a:solidFill>
          <a:ln/>
        </p:spPr>
      </p:sp>
      <p:sp>
        <p:nvSpPr>
          <p:cNvPr id="18" name="Shape 16"/>
          <p:cNvSpPr/>
          <p:nvPr/>
        </p:nvSpPr>
        <p:spPr>
          <a:xfrm>
            <a:off x="502920" y="2642616"/>
            <a:ext cx="256032" cy="256032"/>
          </a:xfrm>
          <a:prstGeom prst="roundRect">
            <a:avLst>
              <a:gd name="adj" fmla="val 14286"/>
            </a:avLst>
          </a:prstGeom>
          <a:solidFill>
            <a:srgbClr val="2A9D8F"/>
          </a:solidFill>
          <a:ln/>
        </p:spPr>
      </p:sp>
      <p:sp>
        <p:nvSpPr>
          <p:cNvPr id="19" name="Text 17"/>
          <p:cNvSpPr/>
          <p:nvPr/>
        </p:nvSpPr>
        <p:spPr>
          <a:xfrm>
            <a:off x="502920" y="264261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914400" y="2569464"/>
            <a:ext cx="7680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646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 첨부에서 자료 올리기 · 붙이기 · 패스 지정이 끝났는가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365760" y="3044952"/>
            <a:ext cx="8412480" cy="402336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/>
        </p:spPr>
      </p:sp>
      <p:sp>
        <p:nvSpPr>
          <p:cNvPr id="22" name="Shape 20"/>
          <p:cNvSpPr/>
          <p:nvPr/>
        </p:nvSpPr>
        <p:spPr>
          <a:xfrm>
            <a:off x="502920" y="3118104"/>
            <a:ext cx="256032" cy="256032"/>
          </a:xfrm>
          <a:prstGeom prst="roundRect">
            <a:avLst>
              <a:gd name="adj" fmla="val 14286"/>
            </a:avLst>
          </a:prstGeom>
          <a:solidFill>
            <a:srgbClr val="2A9D8F"/>
          </a:solidFill>
          <a:ln/>
        </p:spPr>
      </p:sp>
      <p:sp>
        <p:nvSpPr>
          <p:cNvPr id="23" name="Text 21"/>
          <p:cNvSpPr/>
          <p:nvPr/>
        </p:nvSpPr>
        <p:spPr>
          <a:xfrm>
            <a:off x="502920" y="311810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914400" y="3044952"/>
            <a:ext cx="7680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646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 프로파일 · 품질에서 같은 작업을 열 수 있는가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365760" y="416052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A9D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문의는 용접 수집 대시보드 운영 담당에게 남겨 주세요.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8503920" y="4663440"/>
            <a:ext cx="365760" cy="365760"/>
          </a:xfrm>
          <a:prstGeom prst="ellipse">
            <a:avLst/>
          </a:prstGeom>
          <a:solidFill>
            <a:srgbClr val="E76F51"/>
          </a:solidFill>
          <a:ln/>
        </p:spPr>
      </p:sp>
      <p:sp>
        <p:nvSpPr>
          <p:cNvPr id="27" name="Text 25"/>
          <p:cNvSpPr/>
          <p:nvPr/>
        </p:nvSpPr>
        <p:spPr>
          <a:xfrm>
            <a:off x="8503920" y="46634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작업_등록_매뉴얼</dc:title>
  <dc:subject>PptxGenJS Presentation</dc:subject>
  <dc:creator>weld-dashboard</dc:creator>
  <cp:lastModifiedBy>weld-dashboard</cp:lastModifiedBy>
  <cp:revision>1</cp:revision>
  <dcterms:created xsi:type="dcterms:W3CDTF">2026-10-23T04:22:40Z</dcterms:created>
  <dcterms:modified xsi:type="dcterms:W3CDTF">2026-10-23T04:22:40Z</dcterms:modified>
</cp:coreProperties>
</file>